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000" b="1">
                <a:solidFill>
                  <a:srgbClr val="FFFFFF"/>
                </a:solidFill>
              </a:defRPr>
            </a:pPr>
            <a:r>
              <a:t>Superstore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9FC9F5"/>
                </a:solidFill>
              </a:defRPr>
            </a:pPr>
            <a:r>
              <a:t>Final Data Analytics Project: Python, EDA and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Gajanan Raje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AICTE | IBM SkillsBuild Data Analytics with AI Internship,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Problem and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Problem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The store sells 2.30M but keeps only a 12.47% margin. Where is profit made and where is it lost?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Goals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Find top and weak areas, understand the effect of discounts, and recommend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Dataset (2014 to 2017)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9,994 order lines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5,009 orders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793 customers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1,862 products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3 tables: Orders, Products,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Data Cleaning and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Cleaning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No missing values, no duplicates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Dates converted to datetime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6 corrupted customer names fixed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3 tables merged (28 columns)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New columns: Year, Month, Delivery Days, Margin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EDA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Profit vs Sales correlation: 0.48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Profit vs Discount: -0.22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11.7% sales outliers kept (real big orders)</a:t>
            </a:r>
          </a:p>
          <a:p>
            <a:pPr>
              <a:spcAft>
                <a:spcPts val="800"/>
              </a:spcAft>
              <a:defRPr sz="1800" b="0">
                <a:solidFill>
                  <a:srgbClr val="444B57"/>
                </a:solidFill>
              </a:defRPr>
            </a:pPr>
            <a:r>
              <a:t>18.7% of order lines lose money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Category and Region</a:t>
            </a:r>
          </a:p>
        </p:txBody>
      </p:sp>
      <p:pic>
        <p:nvPicPr>
          <p:cNvPr id="4" name="Picture 3" descr="01_sales_profit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136197"/>
          </a:xfrm>
          <a:prstGeom prst="rect">
            <a:avLst/>
          </a:prstGeom>
        </p:spPr>
      </p:pic>
      <p:pic>
        <p:nvPicPr>
          <p:cNvPr id="5" name="Picture 4" descr="03_profit_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1361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B2A41"/>
                </a:solidFill>
              </a:defRPr>
            </a:pPr>
            <a:r>
              <a:t>Furniture: 742K sales but only 2.5% margin. Central region has the lowest margin (7.9%).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Sub-Category and Discount</a:t>
            </a:r>
          </a:p>
        </p:txBody>
      </p:sp>
      <p:pic>
        <p:nvPicPr>
          <p:cNvPr id="4" name="Picture 3" descr="04_profit_by_sub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3748143"/>
          </a:xfrm>
          <a:prstGeom prst="rect">
            <a:avLst/>
          </a:prstGeom>
        </p:spPr>
      </p:pic>
      <p:pic>
        <p:nvPicPr>
          <p:cNvPr id="5" name="Picture 4" descr="07_profit_by_dis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2785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B2A41"/>
                </a:solidFill>
              </a:defRPr>
            </a:pPr>
            <a:r>
              <a:t>Tables, Bookcases and Supplies lose money. Discounts above 20% lose 135K.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Trend and Segment</a:t>
            </a:r>
          </a:p>
        </p:txBody>
      </p:sp>
      <p:pic>
        <p:nvPicPr>
          <p:cNvPr id="4" name="Picture 3" descr="02_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2278211"/>
          </a:xfrm>
          <a:prstGeom prst="rect">
            <a:avLst/>
          </a:prstGeom>
        </p:spPr>
      </p:pic>
      <p:pic>
        <p:nvPicPr>
          <p:cNvPr id="5" name="Picture 4" descr="08_sales_by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53919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B2A41"/>
                </a:solidFill>
              </a:defRPr>
            </a:pPr>
            <a:r>
              <a:t>Sales up 51% since 2014. Nov, Dec and Sep are the strongest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4 KPI cards: Sales 2.30M, Profit 286.40K, Profit % 12.47%, Orders 5.009K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5 visuals: category, monthly trend, customer segment, sub-category profit, product table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Slicers: Year and Region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File: Week5_PowerBI_Gajanan__Raje.pbix (in the GitHub repo)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1. Technology gives 145K profit (17.4%); Furniture only 18K (2.5%).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2. Tables (-17.7K), Bookcases (-3.5K) and Supplies (-1.2K) lose money.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3. Discounts above 20%: 1,393 lines, 135K loss. At 20% or less: 422K profit.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4. Central margin is 7.9% (West 14.9%). Texas, Ohio, Pennsylvania and Illinois lose the most.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5. Sales grew 51% (2014 to 2017); Consumers bring 50.6% of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Recommendations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Recommendations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1. Cap discounts at 20%; high discounts need approval.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2. Re-price or drop Tables and Bookcases; push Copiers, Phones, Accessories, Paper.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Conclusion</a:t>
            </a:r>
          </a:p>
          <a:p>
            <a:pPr>
              <a:spcAft>
                <a:spcPts val="800"/>
              </a:spcAft>
              <a:defRPr sz="2000" b="0">
                <a:solidFill>
                  <a:srgbClr val="444B57"/>
                </a:solidFill>
              </a:defRPr>
            </a:pPr>
            <a:r>
              <a:t>The business is growing, but heavy discounts and weak Furniture lines leak profit. Fixing them is the fastest way to raise the 12.47%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